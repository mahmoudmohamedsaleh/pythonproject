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Aggregate Client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8C8C8"/>
                </a:solidFill>
                <a:latin typeface="Calibri"/>
              </a:defRPr>
            </a:pPr>
            <a:r>
              <a:t>Generated: 2026-01-29 00:21 | Clients: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Summary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3474720" cy="13716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  <a:latin typeface="Calibri"/>
              </a:defRPr>
            </a:pPr>
            <a:r>
              <a:t>Clients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371600"/>
            <a:ext cx="3474720" cy="137160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0" y="1508760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1945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  <a:latin typeface="Calibri"/>
              </a:defRPr>
            </a:pPr>
            <a:r>
              <a:t>Total Projects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371600"/>
            <a:ext cx="3474720" cy="137160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1508760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7,269,215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1945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  <a:latin typeface="Calibri"/>
              </a:defRPr>
            </a:pPr>
            <a:r>
              <a:t>Total Deal Value (SAR)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57200" y="3017520"/>
          <a:ext cx="1124712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828800"/>
                <a:gridCol w="1828800"/>
                <a:gridCol w="210312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Client Name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Type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Tier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Engineer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Projects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soliman alhabib  Hospital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End User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VIP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Mohamed Fathy Amer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soliman alhabib  Hospital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8C8C8"/>
                </a:solidFill>
                <a:latin typeface="Calibri"/>
              </a:defRPr>
            </a:pPr>
            <a:r>
              <a:t>End User | Contact: eng hamdy  | Engineer: Mohamed Fathy Amer | Tier: VIP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2286000"/>
            <a:ext cx="2194560" cy="10058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23774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8803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Projects</a:t>
            </a:r>
          </a:p>
        </p:txBody>
      </p:sp>
      <p:sp>
        <p:nvSpPr>
          <p:cNvPr id="8" name="Rectangle 7"/>
          <p:cNvSpPr/>
          <p:nvPr/>
        </p:nvSpPr>
        <p:spPr>
          <a:xfrm>
            <a:off x="2606039" y="2286000"/>
            <a:ext cx="2194560" cy="10058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39" y="23774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39" y="28803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Quotations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59" y="2286000"/>
            <a:ext cx="2194560" cy="10058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59" y="23774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59" y="28803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RFQs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69479" y="2286000"/>
            <a:ext cx="2194560" cy="100584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69479" y="23774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79" y="28803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POs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1200" y="2286000"/>
            <a:ext cx="2194560" cy="100584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0" y="23774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28803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RFTS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274320" y="3474720"/>
          <a:ext cx="1161288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1828800"/>
                <a:gridCol w="1371600"/>
                <a:gridCol w="201168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Project Name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Stage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Probability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Deal Value (SAR)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rack Datawaylar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Lead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0.01%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2026-01-25 11:26:34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Safa Medical Center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Lead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0.01%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32,800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2026-01-19 16:08:12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Habib Hospitals Group Systems Migration &amp; Upg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Lead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0.01%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2026-01-19 16:05:20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AL Nahda Medical Centers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Lead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0.01%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2025-12-25 11:49:39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Hitteen Medical Centers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Lead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0.01%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2025-12-25 11:48:28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Ishbiliyah Medical Complex - Structure Cablin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Lead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0.01%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152,950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2025-12-25 11:46:02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wellness center Al habib gym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Lead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0.01%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2025-12-15 14:48:12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Project: rack Datawaylar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CDCDC"/>
                </a:solidFill>
                <a:latin typeface="Calibri"/>
              </a:defRPr>
            </a:pPr>
            <a:r>
              <a:t>Client: soliman alhabib  Hospital  | Stage: Lead | Value: 0 SAR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2560320" cy="10058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Quotations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828800"/>
            <a:ext cx="2560320" cy="10058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RFQs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828800"/>
            <a:ext cx="2560320" cy="100584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POs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1828800"/>
            <a:ext cx="2560320" cy="100584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RFTS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" y="3017520"/>
          <a:ext cx="1124712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1828800"/>
                <a:gridCol w="1828800"/>
                <a:gridCol w="182880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Quote Ref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 (SAR)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Selling Price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QT-EJT-EL Habib - Cabinet -2101026-R1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soha.o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2,850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3,353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Quotation Sent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Calibri"/>
              </a:defRPr>
            </a:pPr>
            <a:r>
              <a:t>RFQs - rack Datawaylar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2286000"/>
                <a:gridCol w="1828800"/>
                <a:gridCol w="210312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RFQ Ref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Requested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RFQ-20260126094733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Cabinet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soha.o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2026-01-26 09:47:56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Project: Safa Medical Center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CDCDC"/>
                </a:solidFill>
                <a:latin typeface="Calibri"/>
              </a:defRPr>
            </a:pPr>
            <a:r>
              <a:t>Client: soliman alhabib  Hospital  | Stage: Lead | Value: 32,800 SAR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2560320" cy="10058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Quotations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828800"/>
            <a:ext cx="2560320" cy="10058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RFQs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828800"/>
            <a:ext cx="2560320" cy="100584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POs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1828800"/>
            <a:ext cx="2560320" cy="100584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RFTS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" y="3017520"/>
          <a:ext cx="112471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1828800"/>
                <a:gridCol w="1828800"/>
                <a:gridCol w="182880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Quote Ref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 (SAR)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Selling Price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QT-EJT-Medical Center - PDU -1901026-R1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Passive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soha.o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1,400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2,800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Quotation Sent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QT-EJT-EL Habib - PDU -2601026-R1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PDU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soha.o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25,900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28,000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Quotation Sent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QT-EJT-EL Habib - PDU -2601026-R2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soha.o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1,850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Quotation Sent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Calibri"/>
              </a:defRPr>
            </a:pPr>
            <a:r>
              <a:t>RFQs - Safa Medical Center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2286000"/>
                <a:gridCol w="1828800"/>
                <a:gridCol w="210312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RFQ Ref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Requested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RFQ-20260119163559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Passive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soha.o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2026-01-19 16:37:06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RFQ-20260126141254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soha.o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2026-01-26 14:13:34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RFQ-20260126142050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soha.o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2026-01-26 14:21:36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Purchase Orders - Safa Medical Center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2286000"/>
                <a:gridCol w="1828800"/>
                <a:gridCol w="1645920"/>
                <a:gridCol w="13716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PO Number</a:t>
                      </a:r>
                    </a:p>
                  </a:txBody>
                  <a:tcPr anchor="ctr">
                    <a:solidFill>
                      <a:srgbClr val="DC3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Vendor</a:t>
                      </a:r>
                    </a:p>
                  </a:txBody>
                  <a:tcPr anchor="ctr">
                    <a:solidFill>
                      <a:srgbClr val="DC3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DC3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Total (SAR)</a:t>
                      </a:r>
                    </a:p>
                  </a:txBody>
                  <a:tcPr anchor="ctr">
                    <a:solidFill>
                      <a:srgbClr val="DC3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Approval</a:t>
                      </a:r>
                    </a:p>
                  </a:txBody>
                  <a:tcPr anchor="ctr">
                    <a:solidFill>
                      <a:srgbClr val="DC3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Delivery</a:t>
                      </a:r>
                    </a:p>
                  </a:txBody>
                  <a:tcPr anchor="ctr">
                    <a:solidFill>
                      <a:srgbClr val="DC354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PO-0000541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Bright Wire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Passive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1,400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Approved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Delivered To Client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PO-</a:t>
                      </a:r>
                    </a:p>
                  </a:txBody>
                  <a:tcPr anchor="ctr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DATWYLER</a:t>
                      </a:r>
                    </a:p>
                  </a:txBody>
                  <a:tcPr anchor="ctr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PDU</a:t>
                      </a:r>
                    </a:p>
                  </a:txBody>
                  <a:tcPr anchor="ctr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27,750</a:t>
                      </a:r>
                    </a:p>
                  </a:txBody>
                  <a:tcPr anchor="ctr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Pending</a:t>
                      </a:r>
                    </a:p>
                  </a:txBody>
                  <a:tcPr anchor="ctr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Order Placed</a:t>
                      </a:r>
                    </a:p>
                  </a:txBody>
                  <a:tcPr anchor="ctr">
                    <a:solidFill>
                      <a:srgbClr val="FFEBE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Project: Habib Hospitals Group Systems Migration &amp; Upgrade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CDCDC"/>
                </a:solidFill>
                <a:latin typeface="Calibri"/>
              </a:defRPr>
            </a:pPr>
            <a:r>
              <a:t>Client: soliman alhabib  Hospital  | Stage: Lead | Value: 0 SAR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2560320" cy="10058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Quotations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828800"/>
            <a:ext cx="2560320" cy="10058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RFQs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828800"/>
            <a:ext cx="2560320" cy="100584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POs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1828800"/>
            <a:ext cx="2560320" cy="100584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RFTS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" y="3017520"/>
          <a:ext cx="1124712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1828800"/>
                <a:gridCol w="1828800"/>
                <a:gridCol w="182880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Quote Ref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 (SAR)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Selling Price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 QT-EJT-CLD-SCS-311225-R02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Passive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samar.h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1,948,106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2,026,953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Quotation Sent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Calibri"/>
              </a:defRPr>
            </a:pPr>
            <a:r>
              <a:t>RFQs - Habib Hospitals Group Systems Migration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2286000"/>
                <a:gridCol w="1828800"/>
                <a:gridCol w="210312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RFQ Ref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Requested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RFQ-20260125011351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Passive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samar.h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2026-01-25 01:14:19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Project: AL Nahda Medical Centers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CDCDC"/>
                </a:solidFill>
                <a:latin typeface="Calibri"/>
              </a:defRPr>
            </a:pPr>
            <a:r>
              <a:t>Client: soliman alhabib  Hospital  | Stage: Lead | Value: 0 SAR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2560320" cy="10058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Quotations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828800"/>
            <a:ext cx="2560320" cy="10058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RFQs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828800"/>
            <a:ext cx="2560320" cy="100584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POs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1828800"/>
            <a:ext cx="2560320" cy="100584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RFTS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" y="3017520"/>
          <a:ext cx="112471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1828800"/>
                <a:gridCol w="1828800"/>
                <a:gridCol w="182880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Quote Ref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 (SAR)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Selling Price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QT-EJT-NMC-ICT-311225-R01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CCTV, Passive, Acces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samar.h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1,779,392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2,286,035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Quotation Sent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QT-EJT-NMC-ICT-311225-R01 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CCTV, Passive, Acces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samar.h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1,779,392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2,628,940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Quotation Sent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Calibri"/>
              </a:defRPr>
            </a:pPr>
            <a:r>
              <a:t>RFQs - AL Nahda Medical Centers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2286000"/>
                <a:gridCol w="1828800"/>
                <a:gridCol w="210312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RFQ Ref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Requested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RFQ-20260104080824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CCTV, Passive, Access Con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samar.h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2026-01-04 08:08:56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Project: Hitteen Medical Centers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CDCDC"/>
                </a:solidFill>
                <a:latin typeface="Calibri"/>
              </a:defRPr>
            </a:pPr>
            <a:r>
              <a:t>Client: soliman alhabib  Hospital  | Stage: Lead | Value: 0 SAR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2560320" cy="10058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Quotations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828800"/>
            <a:ext cx="2560320" cy="10058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RFQs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828800"/>
            <a:ext cx="2560320" cy="100584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POs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1828800"/>
            <a:ext cx="2560320" cy="100584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RFTS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" y="3017520"/>
          <a:ext cx="1124712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1828800"/>
                <a:gridCol w="1828800"/>
                <a:gridCol w="182880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Quote Ref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 (SAR)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Selling Price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QT-EJT-HMC-ICT-311225-R01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CCTV, Passive, Acces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samar.h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1,405,049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1,780,414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Quotation Sent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Calibri"/>
              </a:defRPr>
            </a:pPr>
            <a:r>
              <a:t>RFQs - Hitteen Medical Centers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2286000"/>
                <a:gridCol w="1828800"/>
                <a:gridCol w="210312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RFQ Ref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Requested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RFQ-20260104081144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CCTV, Passive, Access Con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samar.h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2026-01-04 08:12:08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Project: Ishbiliyah Medical Complex - Structure Cabling Sys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CDCDC"/>
                </a:solidFill>
                <a:latin typeface="Calibri"/>
              </a:defRPr>
            </a:pPr>
            <a:r>
              <a:t>Client: soliman alhabib  Hospital  | Stage: Lead | Value: 152,950 SAR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2560320" cy="10058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Quotations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828800"/>
            <a:ext cx="2560320" cy="10058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RFQs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828800"/>
            <a:ext cx="2560320" cy="100584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POs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1828800"/>
            <a:ext cx="2560320" cy="100584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RFTS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" y="3017520"/>
          <a:ext cx="112471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1828800"/>
                <a:gridCol w="1828800"/>
                <a:gridCol w="182880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Quote Ref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 (SAR)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Selling Price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QT-EJT-IMC-SCS-281225-R03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Passive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samar.h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125,419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152,950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Technical Discussion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 QT-EJT-IMC-SCS-281225-R03 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Passive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samar.h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125,419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152,950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Closed Won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Calibri"/>
              </a:defRPr>
            </a:pPr>
            <a:r>
              <a:t>RFQs - Ishbiliyah Medical Complex - Structure C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2286000"/>
                <a:gridCol w="1828800"/>
                <a:gridCol w="210312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RFQ Ref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Requested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RFQ-20260119133826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Passive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samar.h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2026-01-19 13:39:03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Purchase Orders - Ishbiliyah Medical Complex - Struct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2286000"/>
                <a:gridCol w="1828800"/>
                <a:gridCol w="1645920"/>
                <a:gridCol w="13716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PO Number</a:t>
                      </a:r>
                    </a:p>
                  </a:txBody>
                  <a:tcPr anchor="ctr">
                    <a:solidFill>
                      <a:srgbClr val="DC3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Vendor</a:t>
                      </a:r>
                    </a:p>
                  </a:txBody>
                  <a:tcPr anchor="ctr">
                    <a:solidFill>
                      <a:srgbClr val="DC3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DC3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Total (SAR)</a:t>
                      </a:r>
                    </a:p>
                  </a:txBody>
                  <a:tcPr anchor="ctr">
                    <a:solidFill>
                      <a:srgbClr val="DC3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Approval</a:t>
                      </a:r>
                    </a:p>
                  </a:txBody>
                  <a:tcPr anchor="ctr">
                    <a:solidFill>
                      <a:srgbClr val="DC3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Delivery</a:t>
                      </a:r>
                    </a:p>
                  </a:txBody>
                  <a:tcPr anchor="ctr">
                    <a:solidFill>
                      <a:srgbClr val="DC354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PO-0000539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DATWYLER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Passive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125,419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Approved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Order Placed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Project: wellness center Al habib gym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CDCDC"/>
                </a:solidFill>
                <a:latin typeface="Calibri"/>
              </a:defRPr>
            </a:pPr>
            <a:r>
              <a:t>Client: soliman alhabib  Hospital  | Stage: Lead | Value: 0 SAR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2560320" cy="10058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Quotations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828800"/>
            <a:ext cx="2560320" cy="10058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RFQs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828800"/>
            <a:ext cx="2560320" cy="100584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POs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1828800"/>
            <a:ext cx="2560320" cy="100584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RFTS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" y="3017520"/>
          <a:ext cx="1124712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1828800"/>
                <a:gridCol w="1828800"/>
                <a:gridCol w="182880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Quote Ref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 (SAR)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Selling Price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QT-EJT-Al habib gym-221225-R01.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Access Control, BGM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H.Ragab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114,197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152,269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Quotation Sent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Calibri"/>
              </a:defRPr>
            </a:pPr>
            <a:r>
              <a:t>RFQs - wellness center Al habib gym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2286000"/>
                <a:gridCol w="1828800"/>
                <a:gridCol w="210312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RFQ Ref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Requested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RFQ-20251215190109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PA-AV 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H.Ragab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2025-12-15 19:01:47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Project: El Habib Villa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CDCDC"/>
                </a:solidFill>
                <a:latin typeface="Calibri"/>
              </a:defRPr>
            </a:pPr>
            <a:r>
              <a:t>Client: soliman alhabib  Hospital  | Stage: Lead | Value: 111,137 SAR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2560320" cy="10058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Quotations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828800"/>
            <a:ext cx="2560320" cy="10058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RFQs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828800"/>
            <a:ext cx="2560320" cy="100584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POs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1828800"/>
            <a:ext cx="2560320" cy="100584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RFTS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" y="3017520"/>
          <a:ext cx="112471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1828800"/>
                <a:gridCol w="1828800"/>
                <a:gridCol w="182880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Quote Ref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 (SAR)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Selling Price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QT-EJT-El Habib Villa-221225-R01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BGM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H.Ragab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129,243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172,362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Quotation Sent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QT-EJT-El Habib Villa-11126-R05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H.Ragab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92,314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111,137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Quotation Sent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Calibri"/>
              </a:defRPr>
            </a:pPr>
            <a:r>
              <a:t>RFQs - El Habib Villa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2286000"/>
                <a:gridCol w="1828800"/>
                <a:gridCol w="210312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RFQ Ref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Requested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RFQ-20251215193223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PA 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H.Ragab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2025-12-15 19:33:14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RFQ-20260114135530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BGM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H.Ragab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2026-01-14 13:56:10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RFQ-20260127083059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CCTV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soha.o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Queue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2026-01-27 08:31:25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RFQ-20260127083135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soha.o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Queue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2026-01-27 08:32:02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Project: NAMAR Medical Center Suliman Alhabib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CDCDC"/>
                </a:solidFill>
                <a:latin typeface="Calibri"/>
              </a:defRPr>
            </a:pPr>
            <a:r>
              <a:t>Client: soliman alhabib  Hospital  | Stage: Lead | Value: 0 SAR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2560320" cy="10058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Quotations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828800"/>
            <a:ext cx="2560320" cy="10058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RFQs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828800"/>
            <a:ext cx="2560320" cy="100584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POs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1828800"/>
            <a:ext cx="2560320" cy="100584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RFTS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" y="3017520"/>
          <a:ext cx="112471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1828800"/>
                <a:gridCol w="1828800"/>
                <a:gridCol w="182880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Quote Ref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 (SAR)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Selling Price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QT-EJT-NMC-SCS-151225-R01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Passive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samar.h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536,053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744,479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Quotation Sent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QT-EJT-NAMAR-F.A-301225-R01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Fire Alarm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a.alshiekh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656,093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871,610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Quotation Sent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Calibri"/>
              </a:defRPr>
            </a:pPr>
            <a:r>
              <a:t>RFQs - NAMAR Medical Center Suliman Alhabib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2286000"/>
                <a:gridCol w="1828800"/>
                <a:gridCol w="210312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RFQ Ref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Requested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RFQ-20251213101042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CCTV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soha.o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Cancelled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2025-12-13 10:11:07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RFQ-20251213101112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Access Control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soha.o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Cancelled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2025-12-13 10:11:36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RFQ-20251213101148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Passive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samar.h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2025-12-13 10:12:20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RFQ-20251213101252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Fire Alarm, CO System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a.alshiekh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2025-12-13 10:13:21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RFQ-20251213101326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a.alshiekh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Cancelled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2025-12-13 10:13:48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Project: soliman alhabib  Hospital tabok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CDCDC"/>
                </a:solidFill>
                <a:latin typeface="Calibri"/>
              </a:defRPr>
            </a:pPr>
            <a:r>
              <a:t>Client: soliman alhabib  Hospital  | Stage: Technical Discussion | Value: 6,972,328 SAR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2560320" cy="10058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Quotations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828800"/>
            <a:ext cx="2560320" cy="10058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RFQs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828800"/>
            <a:ext cx="2560320" cy="100584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POs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1828800"/>
            <a:ext cx="2560320" cy="100584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RFTS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" y="3017520"/>
          <a:ext cx="112471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1828800"/>
                <a:gridCol w="1828800"/>
                <a:gridCol w="182880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Quote Ref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 (SAR)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Selling Price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QT-EJT-SHT-ICT-L.C-151025-R02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L.C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a.alshiekh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4,396,162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5,775,164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Quotation Sent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QT-EJT-SHT-ICT-L.C-151025-R02 - Panduit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F.A ,QMS , Nurse cal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a.alshiekh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4,396,162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5,775,164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Quotation Sent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QT-EJT-SHT-L.C-301025-R03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P.A , QUEUE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a.alshiekh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851,761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936,317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Quotation Sent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QT-EJT-SHT-P.A-101225-R06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Public Address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a.alshiekh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647,206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656,055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Quotation Sent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QT-EJT-SHT-F.A-091225-R06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Fire Alarm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a.alshiekh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2,412,038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2,945,723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Quotation Sent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Calibri"/>
              </a:defRPr>
            </a:pPr>
            <a:r>
              <a:t>RFQs - soliman alhabib  Hospital tabok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2286000"/>
                <a:gridCol w="1828800"/>
                <a:gridCol w="210312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RFQ Ref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Requested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RFQ-20250928071447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Access Control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samar.h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2025-09-28 07:16:27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RFQ-20250928071647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a.alshiekh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2025-09-28 07:18:20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RFQ-20251109083659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a.alshiekh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2025-11-09 08:38:41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RFQ-20251203082528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Fire Alarm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a.alshiekh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2025-12-03 08:26:58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RFQ-20251203084811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PA 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a.alshiekh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2025-12-03 08:48:43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RFQ-20251206140257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Passive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samar.h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2025-12-06 14:03:36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RFQ-20251206140341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CCTV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samar.h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2025-12-06 14:04:21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RFQ-20251208074751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BMS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a.alshiekh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2025-12-08 07:48:18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RFQ-20260113113348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Passive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samar.h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2026-01-13 11:35:24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RFQ-20260121132319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Cabinet data center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samar.h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2026-01-21 13:23:57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RFTS - soliman alhabib  Hospital tabok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1828800"/>
                <a:gridCol w="2103120"/>
                <a:gridCol w="1371600"/>
                <a:gridCol w="18288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RFTS Ref</a:t>
                      </a:r>
                    </a:p>
                  </a:txBody>
                  <a:tcPr anchor="ctr">
                    <a:solidFill>
                      <a:srgbClr val="6F42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6F42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Type</a:t>
                      </a:r>
                    </a:p>
                  </a:txBody>
                  <a:tcPr anchor="ctr">
                    <a:solidFill>
                      <a:srgbClr val="6F42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Engineer</a:t>
                      </a:r>
                    </a:p>
                  </a:txBody>
                  <a:tcPr anchor="ctr">
                    <a:solidFill>
                      <a:srgbClr val="6F42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Priority</a:t>
                      </a:r>
                    </a:p>
                  </a:txBody>
                  <a:tcPr anchor="ctr">
                    <a:solidFill>
                      <a:srgbClr val="6F42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6F42C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RFTS-34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Fire Alarm,BMS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Technical Submi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a.alshiekh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Done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RFTS-35</a:t>
                      </a:r>
                    </a:p>
                  </a:txBody>
                  <a:tcPr anchor="ctr"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Fire Alarm,PA System</a:t>
                      </a:r>
                    </a:p>
                  </a:txBody>
                  <a:tcPr anchor="ctr"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Technical Submi</a:t>
                      </a:r>
                    </a:p>
                  </a:txBody>
                  <a:tcPr anchor="ctr"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a.alshiekh</a:t>
                      </a:r>
                    </a:p>
                  </a:txBody>
                  <a:tcPr anchor="ctr"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Done</a:t>
                      </a:r>
                    </a:p>
                  </a:txBody>
                  <a:tcPr anchor="ctr">
                    <a:solidFill>
                      <a:srgbClr val="F5F0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RFTS-36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Passive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Technical Submi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samar.h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Done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RFTS-37</a:t>
                      </a:r>
                    </a:p>
                  </a:txBody>
                  <a:tcPr anchor="ctr"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CCTV,Access Control</a:t>
                      </a:r>
                    </a:p>
                  </a:txBody>
                  <a:tcPr anchor="ctr"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Technical Submi</a:t>
                      </a:r>
                    </a:p>
                  </a:txBody>
                  <a:tcPr anchor="ctr"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samar.h</a:t>
                      </a:r>
                    </a:p>
                  </a:txBody>
                  <a:tcPr anchor="ctr"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Low</a:t>
                      </a:r>
                    </a:p>
                  </a:txBody>
                  <a:tcPr anchor="ctr"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Done</a:t>
                      </a:r>
                    </a:p>
                  </a:txBody>
                  <a:tcPr anchor="ctr">
                    <a:solidFill>
                      <a:srgbClr val="F5F0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RFTS-48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QMS 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Technical Submi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a.alshiekh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Done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RFTS-53</a:t>
                      </a:r>
                    </a:p>
                  </a:txBody>
                  <a:tcPr anchor="ctr"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P.A</a:t>
                      </a:r>
                    </a:p>
                  </a:txBody>
                  <a:tcPr anchor="ctr"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Technical Submi</a:t>
                      </a:r>
                    </a:p>
                  </a:txBody>
                  <a:tcPr anchor="ctr"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a.alshiekh</a:t>
                      </a:r>
                    </a:p>
                  </a:txBody>
                  <a:tcPr anchor="ctr"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Done</a:t>
                      </a:r>
                    </a:p>
                  </a:txBody>
                  <a:tcPr anchor="ctr">
                    <a:solidFill>
                      <a:srgbClr val="F5F0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RFTS-54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Passive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Drawing Breakdo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samar.h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Done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RFTS-59</a:t>
                      </a:r>
                    </a:p>
                  </a:txBody>
                  <a:tcPr anchor="ctr"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Passive</a:t>
                      </a:r>
                    </a:p>
                  </a:txBody>
                  <a:tcPr anchor="ctr"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Cover Quotation</a:t>
                      </a:r>
                    </a:p>
                  </a:txBody>
                  <a:tcPr anchor="ctr"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samar.h</a:t>
                      </a:r>
                    </a:p>
                  </a:txBody>
                  <a:tcPr anchor="ctr"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Done</a:t>
                      </a:r>
                    </a:p>
                  </a:txBody>
                  <a:tcPr anchor="ctr">
                    <a:solidFill>
                      <a:srgbClr val="F5F0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