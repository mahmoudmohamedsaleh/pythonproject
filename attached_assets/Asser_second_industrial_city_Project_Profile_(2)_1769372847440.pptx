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67EEA"/>
                </a:solidFill>
                <a:latin typeface="Calibri"/>
              </a:defRPr>
            </a:pPr>
            <a:r>
              <a:t>Project Profile: Asser second industrial 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  <a:latin typeface="Calibri"/>
              </a:defRPr>
            </a:pPr>
            <a:r>
              <a:t>Stage: Closed Won | Probability: 100.0%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81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Sales Engineer</a:t>
                      </a:r>
                    </a:p>
                  </a:txBody>
                  <a:tcPr anchor="ctr"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latin typeface="Calibri"/>
                        </a:defRPr>
                      </a:pPr>
                      <a:r>
                        <a:t>Mohamed Mustafa Alfakhrany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 User</a:t>
                      </a:r>
                    </a:p>
                  </a:txBody>
                  <a:tcPr anchor="ctr"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latin typeface="Calibri"/>
                        </a:defRPr>
                      </a:pPr>
                      <a:r>
                        <a:t>Asser second industrial city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Contractor</a:t>
                      </a:r>
                    </a:p>
                  </a:txBody>
                  <a:tcPr anchor="ctr"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latin typeface="Calibri"/>
                        </a:defRPr>
                      </a:pPr>
                      <a:r>
                        <a:t>Golden Line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Consultant</a:t>
                      </a:r>
                    </a:p>
                  </a:txBody>
                  <a:tcPr anchor="ctr"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latin typeface="Calibri"/>
                        </a:defRPr>
                      </a:pPr>
                      <a:r>
                        <a:t>EGIS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 Close</a:t>
                      </a:r>
                    </a:p>
                  </a:txBody>
                  <a:tcPr anchor="ctr"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latin typeface="Calibri"/>
                        </a:defRPr>
                      </a:pPr>
                      <a:r>
                        <a:t>2025-08-20</a:t>
                      </a: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Deal Value</a:t>
                      </a:r>
                    </a:p>
                  </a:txBody>
                  <a:tcPr anchor="ctr"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latin typeface="Calibri"/>
                        </a:defRPr>
                      </a:pPr>
                      <a:r>
                        <a:t>SAR 460,000.00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0" y="1645920"/>
          <a:ext cx="4114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Quotations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Quotation Value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latin typeface="Calibri"/>
                        </a:defRPr>
                      </a:pPr>
                      <a:r>
                        <a:t>SAR 2,165,024.00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RFQs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 Requests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Purchase Orders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latin typeface="Calibri"/>
                        </a:defRPr>
                      </a:pPr>
                      <a:r>
                        <a:t>7 (SAR 323,278.13)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1148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alibri"/>
              </a:defRPr>
            </a:pPr>
            <a:r>
              <a:t>Scope of Work: Data - Fire Alarm - CCTV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8A745"/>
                </a:solidFill>
                <a:latin typeface="Calibri"/>
              </a:defRPr>
            </a:pPr>
            <a:r>
              <a:t>Quotations (6)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</a:tblGrid>
              <a:tr h="71845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Sales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Margin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QT-EJT-GLC-WTKMP-ICT&amp;IPCCTV-121125-R07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ICT&amp;IPCCTV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M.Alfakhrany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364,744.75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460,000.00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20.707663043478263%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Closed Won</a:t>
                      </a:r>
                    </a:p>
                  </a:txBody>
                  <a:tcPr anchor="ctr"/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QT-EJT-GLC-WTKMP-ICT&amp;IPCCTV-121125-R06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ICT&amp;IPCCTV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M.Alfakhrany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367,353.31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460,000.00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20.140584782608695%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Negotiation</a:t>
                      </a:r>
                    </a:p>
                  </a:txBody>
                  <a:tcPr anchor="ctr"/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QT-EJT-GLC-WTKMP-ICT&amp;IPCCTV-61125-R06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ICT&amp;IPCCTV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M.Alfakhrany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367,642.31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533,928.00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31.143841491736712%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Negotiation</a:t>
                      </a:r>
                    </a:p>
                  </a:txBody>
                  <a:tcPr anchor="ctr"/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QT-EJT-Water Plant-Golden Line-SRV-02111025-R02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SRV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M.Saleh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M.Alfakhrany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294,400.00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346,271.00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14.97988569646318%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QT-EJT-Water Plant-Golden Line-24825-R05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ICT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M.Saleh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M.Alfakhrany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147,183.00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196,950.00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25.268849961919273%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Technical Discussion</a:t>
                      </a:r>
                    </a:p>
                  </a:txBody>
                  <a:tcPr anchor="ctr"/>
                </a:tc>
              </a:tr>
              <a:tr h="718458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QT-EJT-Water Plant-Golden Line-23625-R01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ICT, IP-CCTV and Fire Alarm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Radwa.E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M.Alfakhrany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125,870.00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167,875.00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25.021593447505587%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Follow UP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C107"/>
                </a:solidFill>
                <a:latin typeface="Calibri"/>
              </a:defRPr>
            </a:pPr>
            <a:r>
              <a:t>RFQs (4)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</a:tblGrid>
              <a:tr h="1005840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Calibri"/>
                        </a:defRPr>
                      </a:pPr>
                      <a:r>
                        <a:t>RFQ Reference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Calibri"/>
                        </a:defRPr>
                      </a:pPr>
                      <a:r>
                        <a:t>Sales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Calibri"/>
                        </a:defRPr>
                      </a:pPr>
                      <a:r>
                        <a:t>Deadline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Calibri"/>
                        </a:defRPr>
                      </a:pPr>
                      <a:r>
                        <a:t>Age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Calibri"/>
                        </a:defRPr>
                      </a:pPr>
                      <a:r>
                        <a:t>RFQ 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RFQ-20251118103842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On hand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M.Alfakhrany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2025-11-18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68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</a:tr>
              <a:tr h="100584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RFQ-20251020154943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On hand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M.Saleh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M.Alfakhrany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2025-10-22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97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</a:tr>
              <a:tr h="100584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RFQ-20250813102011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On hand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M.Saleh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M.Alfakhrany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2025-08-14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165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</a:tr>
              <a:tr h="100584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RFQ-20250619060512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On hand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Radwa.E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M.Alfakhrany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2025-06-22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220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3545"/>
                </a:solidFill>
                <a:latin typeface="Calibri"/>
              </a:defRPr>
            </a:pPr>
            <a:r>
              <a:t>Purchase Orders (7)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62865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 Reference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Distributor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Vendor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Amount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Approval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Delivery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PO-0000514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ICT&amp;IPCCTV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90,130.00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Approved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Order Not Placed</a:t>
                      </a:r>
                    </a:p>
                  </a:txBody>
                  <a:tcPr anchor="ctr"/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PO-0000481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ICT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6,500.00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Approved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Order Placed</a:t>
                      </a:r>
                    </a:p>
                  </a:txBody>
                  <a:tcPr anchor="ctr"/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PO-0000483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ICT IP-TEL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6,682.53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Approved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Order Not Placed</a:t>
                      </a:r>
                    </a:p>
                  </a:txBody>
                  <a:tcPr anchor="ctr"/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PO-00003490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38,000.00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Approved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Order Not Placed</a:t>
                      </a:r>
                    </a:p>
                  </a:txBody>
                  <a:tcPr anchor="ctr"/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PO-0000482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ICT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9,755.00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Approved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Order Not Placed</a:t>
                      </a:r>
                    </a:p>
                  </a:txBody>
                  <a:tcPr anchor="ctr"/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PO-0000491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IP-CCTV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4,800.00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Approved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Order Placed</a:t>
                      </a:r>
                    </a:p>
                  </a:txBody>
                  <a:tcPr anchor="ctr"/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PO-0000480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ICT&amp;IPCCTV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SAR 167,410.60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Approved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Order Not Placed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F42C1"/>
                </a:solidFill>
                <a:latin typeface="Calibri"/>
              </a:defRPr>
            </a:pPr>
            <a:r>
              <a:t>Request For Technical Support (1)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25146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RFTS Ref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Request Type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Deadline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</a:tr>
              <a:tr h="2514600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RFTS-47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Active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Technical Submittal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2025-12-07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